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4"/>
  </p:sldMasterIdLst>
  <p:notesMasterIdLst>
    <p:notesMasterId r:id="rId25"/>
  </p:notesMasterIdLst>
  <p:sldIdLst>
    <p:sldId id="393" r:id="rId5"/>
    <p:sldId id="442" r:id="rId6"/>
    <p:sldId id="396" r:id="rId7"/>
    <p:sldId id="364" r:id="rId8"/>
    <p:sldId id="423" r:id="rId9"/>
    <p:sldId id="424" r:id="rId10"/>
    <p:sldId id="425" r:id="rId11"/>
    <p:sldId id="439" r:id="rId12"/>
    <p:sldId id="441" r:id="rId13"/>
    <p:sldId id="429" r:id="rId14"/>
    <p:sldId id="437" r:id="rId15"/>
    <p:sldId id="443" r:id="rId16"/>
    <p:sldId id="397" r:id="rId17"/>
    <p:sldId id="399" r:id="rId18"/>
    <p:sldId id="417" r:id="rId19"/>
    <p:sldId id="403" r:id="rId20"/>
    <p:sldId id="416" r:id="rId21"/>
    <p:sldId id="436" r:id="rId22"/>
    <p:sldId id="404" r:id="rId23"/>
    <p:sldId id="41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Lupion Lorente" initials="MLL" lastIdx="2" clrIdx="0">
    <p:extLst>
      <p:ext uri="{19B8F6BF-5375-455C-9EA6-DF929625EA0E}">
        <p15:presenceInfo xmlns:p15="http://schemas.microsoft.com/office/powerpoint/2012/main" userId="a3611b0f9f7fdc61" providerId="Windows Live"/>
      </p:ext>
    </p:extLst>
  </p:cmAuthor>
  <p:cmAuthor id="2" name="Marcos Lupión Lorente" initials="MLL" lastIdx="8" clrIdx="1">
    <p:extLst>
      <p:ext uri="{19B8F6BF-5375-455C-9EA6-DF929625EA0E}">
        <p15:presenceInfo xmlns:p15="http://schemas.microsoft.com/office/powerpoint/2012/main" userId="Marcos Lupión Lorente" providerId="None"/>
      </p:ext>
    </p:extLst>
  </p:cmAuthor>
  <p:cmAuthor id="3" name="ESTHER IBÁÑEZ MINGORANCE" initials="EI" lastIdx="1" clrIdx="2">
    <p:extLst>
      <p:ext uri="{19B8F6BF-5375-455C-9EA6-DF929625EA0E}">
        <p15:presenceInfo xmlns:p15="http://schemas.microsoft.com/office/powerpoint/2012/main" userId="S::eim344@inlumine.ual.es::901f0923-3bf4-4123-abd6-5c025008924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156082"/>
    <a:srgbClr val="E97132"/>
    <a:srgbClr val="01579B"/>
    <a:srgbClr val="1C4C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AE34EF-52C8-44EB-BE4E-CE5BE03EA0E0}" v="698" dt="2020-07-07T10:35:49.6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81058" autoAdjust="0"/>
  </p:normalViewPr>
  <p:slideViewPr>
    <p:cSldViewPr snapToGrid="0">
      <p:cViewPr varScale="1">
        <p:scale>
          <a:sx n="67" d="100"/>
          <a:sy n="67" d="100"/>
        </p:scale>
        <p:origin x="1286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E6CA11-FA03-4561-BDE5-C4481FF4D1F3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85AE6-6F21-464A-82C4-2C878D5CE9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0286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C85AE6-6F21-464A-82C4-2C878D5CE934}" type="slidenum">
              <a:rPr lang="es-ES" smtClean="0"/>
              <a:t>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5157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C85AE6-6F21-464A-82C4-2C878D5CE934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158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CED92-78D1-4587-A8C3-902B6CBBD5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8146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CED92-78D1-4587-A8C3-902B6CBBD5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92623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CED92-78D1-4587-A8C3-902B6CBBD5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8088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CED92-78D1-4587-A8C3-902B6CBBD5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1342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CED92-78D1-4587-A8C3-902B6CBBD5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9197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CED92-78D1-4587-A8C3-902B6CBBD5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7607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CED92-78D1-4587-A8C3-902B6CBBD5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7059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CED92-78D1-4587-A8C3-902B6CBBD5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8974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CED92-78D1-4587-A8C3-902B6CBBD5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9370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CED92-78D1-4587-A8C3-902B6CBBD5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795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CED92-78D1-4587-A8C3-902B6CBBD5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5704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3;p6">
            <a:extLst>
              <a:ext uri="{FF2B5EF4-FFF2-40B4-BE49-F238E27FC236}">
                <a16:creationId xmlns:a16="http://schemas.microsoft.com/office/drawing/2014/main" id="{573B2F1C-E196-4E4E-A4A8-9BC9CB298B84}"/>
              </a:ext>
            </a:extLst>
          </p:cNvPr>
          <p:cNvSpPr/>
          <p:nvPr userDrawn="1"/>
        </p:nvSpPr>
        <p:spPr>
          <a:xfrm flipH="1">
            <a:off x="-75" y="0"/>
            <a:ext cx="669600" cy="1002785"/>
          </a:xfrm>
          <a:prstGeom prst="rect">
            <a:avLst/>
          </a:prstGeom>
          <a:solidFill>
            <a:srgbClr val="1C4C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" name="Google Shape;33;p6">
            <a:extLst>
              <a:ext uri="{FF2B5EF4-FFF2-40B4-BE49-F238E27FC236}">
                <a16:creationId xmlns:a16="http://schemas.microsoft.com/office/drawing/2014/main" id="{43C7174F-C007-45CC-B154-F1A535A50DFA}"/>
              </a:ext>
            </a:extLst>
          </p:cNvPr>
          <p:cNvSpPr/>
          <p:nvPr userDrawn="1"/>
        </p:nvSpPr>
        <p:spPr>
          <a:xfrm flipH="1">
            <a:off x="-1" y="6043750"/>
            <a:ext cx="12198225" cy="814828"/>
          </a:xfrm>
          <a:prstGeom prst="rect">
            <a:avLst/>
          </a:prstGeom>
          <a:solidFill>
            <a:srgbClr val="1C4C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Imagen 4" descr="Imagen que contiene dibujo, señal&#10;&#10;Descripción generada automáticamente">
            <a:extLst>
              <a:ext uri="{FF2B5EF4-FFF2-40B4-BE49-F238E27FC236}">
                <a16:creationId xmlns:a16="http://schemas.microsoft.com/office/drawing/2014/main" id="{AB6EDDC7-D1D6-409E-9EC2-47FA9CE189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9953" y="6099470"/>
            <a:ext cx="2071772" cy="689967"/>
          </a:xfrm>
          <a:prstGeom prst="rect">
            <a:avLst/>
          </a:prstGeom>
        </p:spPr>
      </p:pic>
      <p:sp>
        <p:nvSpPr>
          <p:cNvPr id="6" name="Título 5">
            <a:extLst>
              <a:ext uri="{FF2B5EF4-FFF2-40B4-BE49-F238E27FC236}">
                <a16:creationId xmlns:a16="http://schemas.microsoft.com/office/drawing/2014/main" id="{036F7655-9858-48DA-A19F-DB1D5ED99F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525" y="130629"/>
            <a:ext cx="11522475" cy="434360"/>
          </a:xfrm>
        </p:spPr>
        <p:txBody>
          <a:bodyPr>
            <a:noAutofit/>
          </a:bodyPr>
          <a:lstStyle>
            <a:lvl1pPr>
              <a:defRPr sz="3200">
                <a:solidFill>
                  <a:srgbClr val="1C4C84"/>
                </a:solidFill>
                <a:latin typeface="Rockwell" panose="02060603020205020403" pitchFamily="18" charset="0"/>
              </a:defRPr>
            </a:lvl1pPr>
          </a:lstStyle>
          <a:p>
            <a:r>
              <a:rPr lang="es-ES" dirty="0"/>
              <a:t>Título</a:t>
            </a:r>
          </a:p>
        </p:txBody>
      </p:sp>
      <p:sp>
        <p:nvSpPr>
          <p:cNvPr id="24" name="Marcador de texto 23">
            <a:extLst>
              <a:ext uri="{FF2B5EF4-FFF2-40B4-BE49-F238E27FC236}">
                <a16:creationId xmlns:a16="http://schemas.microsoft.com/office/drawing/2014/main" id="{7FAD57F0-488B-4C20-BE30-E05458C0AD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9925" y="592585"/>
            <a:ext cx="11522075" cy="373108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rgbClr val="1C4C84"/>
                </a:solidFill>
                <a:latin typeface="Rockwell" panose="02060603020205020403" pitchFamily="18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27" name="Marcador de número de diapositiva 26">
            <a:extLst>
              <a:ext uri="{FF2B5EF4-FFF2-40B4-BE49-F238E27FC236}">
                <a16:creationId xmlns:a16="http://schemas.microsoft.com/office/drawing/2014/main" id="{360DC6AD-6995-460C-A3DA-4A3585116AB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31953" y="6268601"/>
            <a:ext cx="2743200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B96CED92-78D1-4587-A8C3-902B6CBBD52C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AE25B850-D7D2-40D7-B646-FF867E5076F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69524" y="1253331"/>
            <a:ext cx="10817081" cy="4351338"/>
          </a:xfrm>
        </p:spPr>
        <p:txBody>
          <a:bodyPr>
            <a:normAutofit/>
          </a:bodyPr>
          <a:lstStyle>
            <a:lvl1pPr>
              <a:defRPr sz="20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s-ES" dirty="0"/>
              <a:t>Introduce aquí el texto</a:t>
            </a:r>
          </a:p>
        </p:txBody>
      </p:sp>
    </p:spTree>
    <p:extLst>
      <p:ext uri="{BB962C8B-B14F-4D97-AF65-F5344CB8AC3E}">
        <p14:creationId xmlns:p14="http://schemas.microsoft.com/office/powerpoint/2010/main" val="3324069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CED92-78D1-4587-A8C3-902B6CBBD5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9495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413CA3-6F4B-47B3-A61E-C45E138424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857" y="1856826"/>
            <a:ext cx="5743553" cy="2889114"/>
          </a:xfrm>
        </p:spPr>
        <p:txBody>
          <a:bodyPr anchor="b">
            <a:normAutofit fontScale="90000"/>
          </a:bodyPr>
          <a:lstStyle/>
          <a:p>
            <a:r>
              <a:rPr lang="es-ES" sz="5100" b="1" dirty="0">
                <a:solidFill>
                  <a:schemeClr val="bg1"/>
                </a:solidFill>
              </a:rPr>
              <a:t>Detección de actividades en tiempo real con sensores multimodales en una Smart Home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48C2ABB-4A05-4DE7-8120-EE7F34085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97942" y="4912452"/>
            <a:ext cx="3168898" cy="497382"/>
          </a:xfrm>
        </p:spPr>
        <p:txBody>
          <a:bodyPr anchor="t">
            <a:norm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Trabajo Fin de Máster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5B49B15-3D8C-4307-ABDF-A88029D01AF7}"/>
              </a:ext>
            </a:extLst>
          </p:cNvPr>
          <p:cNvSpPr txBox="1"/>
          <p:nvPr/>
        </p:nvSpPr>
        <p:spPr>
          <a:xfrm>
            <a:off x="6197475" y="5742859"/>
            <a:ext cx="5575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Alumno: Marcos Lupión Lorente</a:t>
            </a:r>
          </a:p>
          <a:p>
            <a:r>
              <a:rPr lang="es-ES" dirty="0">
                <a:solidFill>
                  <a:schemeClr val="bg1"/>
                </a:solidFill>
              </a:rPr>
              <a:t>Directora:  Pilar Martínez Ortigosa</a:t>
            </a:r>
          </a:p>
          <a:p>
            <a:r>
              <a:rPr lang="es-ES" dirty="0">
                <a:solidFill>
                  <a:schemeClr val="bg1"/>
                </a:solidFill>
              </a:rPr>
              <a:t>Codirector: Javier Media Quero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46C87E5-3C62-4DD6-8B82-1CFA856A5A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47" y="2444735"/>
            <a:ext cx="3976210" cy="1522571"/>
          </a:xfrm>
          <a:prstGeom prst="rect">
            <a:avLst/>
          </a:prstGeom>
        </p:spPr>
      </p:pic>
      <p:sp>
        <p:nvSpPr>
          <p:cNvPr id="15" name="Forma libre: forma 14">
            <a:extLst>
              <a:ext uri="{FF2B5EF4-FFF2-40B4-BE49-F238E27FC236}">
                <a16:creationId xmlns:a16="http://schemas.microsoft.com/office/drawing/2014/main" id="{38F73867-56BD-41A4-B4EA-1DEE78EB4DDB}"/>
              </a:ext>
            </a:extLst>
          </p:cNvPr>
          <p:cNvSpPr/>
          <p:nvPr/>
        </p:nvSpPr>
        <p:spPr>
          <a:xfrm>
            <a:off x="1948660" y="0"/>
            <a:ext cx="10222640" cy="6858000"/>
          </a:xfrm>
          <a:custGeom>
            <a:avLst/>
            <a:gdLst>
              <a:gd name="connsiteX0" fmla="*/ 3917464 w 10222640"/>
              <a:gd name="connsiteY0" fmla="*/ 0 h 6858000"/>
              <a:gd name="connsiteX1" fmla="*/ 10222640 w 10222640"/>
              <a:gd name="connsiteY1" fmla="*/ 0 h 6858000"/>
              <a:gd name="connsiteX2" fmla="*/ 10222640 w 10222640"/>
              <a:gd name="connsiteY2" fmla="*/ 6858000 h 6858000"/>
              <a:gd name="connsiteX3" fmla="*/ 0 w 10222640"/>
              <a:gd name="connsiteY3" fmla="*/ 6858000 h 6858000"/>
              <a:gd name="connsiteX4" fmla="*/ 29122 w 10222640"/>
              <a:gd name="connsiteY4" fmla="*/ 6840187 h 6858000"/>
              <a:gd name="connsiteX5" fmla="*/ 2700890 w 10222640"/>
              <a:gd name="connsiteY5" fmla="*/ 3927651 h 6858000"/>
              <a:gd name="connsiteX6" fmla="*/ 3896788 w 10222640"/>
              <a:gd name="connsiteY6" fmla="*/ 3973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222640" h="6858000">
                <a:moveTo>
                  <a:pt x="3917464" y="0"/>
                </a:moveTo>
                <a:lnTo>
                  <a:pt x="10222640" y="0"/>
                </a:lnTo>
                <a:lnTo>
                  <a:pt x="10222640" y="6858000"/>
                </a:lnTo>
                <a:lnTo>
                  <a:pt x="0" y="6858000"/>
                </a:lnTo>
                <a:lnTo>
                  <a:pt x="29122" y="6840187"/>
                </a:lnTo>
                <a:cubicBezTo>
                  <a:pt x="995423" y="6222614"/>
                  <a:pt x="1953130" y="5212554"/>
                  <a:pt x="2700890" y="3927651"/>
                </a:cubicBezTo>
                <a:cubicBezTo>
                  <a:pt x="3398798" y="2728409"/>
                  <a:pt x="3798193" y="1488430"/>
                  <a:pt x="3896788" y="397304"/>
                </a:cubicBezTo>
                <a:close/>
              </a:path>
            </a:pathLst>
          </a:custGeom>
          <a:solidFill>
            <a:srgbClr val="1C4C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798FB303-E575-4816-BAFB-1A37F3CB590A}"/>
              </a:ext>
            </a:extLst>
          </p:cNvPr>
          <p:cNvSpPr txBox="1">
            <a:spLocks/>
          </p:cNvSpPr>
          <p:nvPr/>
        </p:nvSpPr>
        <p:spPr>
          <a:xfrm>
            <a:off x="6096000" y="1660110"/>
            <a:ext cx="5743553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5100" b="1" dirty="0">
                <a:solidFill>
                  <a:schemeClr val="bg1"/>
                </a:solidFill>
              </a:rPr>
              <a:t>Espejo inteligente para la monitorización de hábitos de vida saludable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D6A30434-372E-4E56-96AF-98E12EF6EBB2}"/>
              </a:ext>
            </a:extLst>
          </p:cNvPr>
          <p:cNvSpPr txBox="1">
            <a:spLocks/>
          </p:cNvSpPr>
          <p:nvPr/>
        </p:nvSpPr>
        <p:spPr>
          <a:xfrm>
            <a:off x="7384085" y="4715736"/>
            <a:ext cx="3168898" cy="4973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dirty="0">
                <a:solidFill>
                  <a:schemeClr val="bg1"/>
                </a:solidFill>
              </a:rPr>
              <a:t>Trabajo Fin de Grado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95CB3CC-09E7-4660-B9E3-BE89D94C91F1}"/>
              </a:ext>
            </a:extLst>
          </p:cNvPr>
          <p:cNvSpPr txBox="1"/>
          <p:nvPr/>
        </p:nvSpPr>
        <p:spPr>
          <a:xfrm>
            <a:off x="5983618" y="5546143"/>
            <a:ext cx="5575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Alumno: Esther Ibáñez Mingorance</a:t>
            </a:r>
          </a:p>
          <a:p>
            <a:r>
              <a:rPr lang="es-ES" dirty="0">
                <a:solidFill>
                  <a:schemeClr val="bg1"/>
                </a:solidFill>
              </a:rPr>
              <a:t>Director:  Marcos </a:t>
            </a:r>
            <a:r>
              <a:rPr lang="es-ES" dirty="0" err="1">
                <a:solidFill>
                  <a:schemeClr val="bg1"/>
                </a:solidFill>
              </a:rPr>
              <a:t>Lupión</a:t>
            </a:r>
            <a:r>
              <a:rPr lang="es-ES" dirty="0">
                <a:solidFill>
                  <a:schemeClr val="bg1"/>
                </a:solidFill>
              </a:rPr>
              <a:t> Lorente</a:t>
            </a:r>
          </a:p>
          <a:p>
            <a:r>
              <a:rPr lang="es-ES" dirty="0">
                <a:solidFill>
                  <a:schemeClr val="bg1"/>
                </a:solidFill>
              </a:rPr>
              <a:t>Codirector: Vicente González Ruíz</a:t>
            </a:r>
          </a:p>
        </p:txBody>
      </p:sp>
    </p:spTree>
    <p:extLst>
      <p:ext uri="{BB962C8B-B14F-4D97-AF65-F5344CB8AC3E}">
        <p14:creationId xmlns:p14="http://schemas.microsoft.com/office/powerpoint/2010/main" val="2656458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5984-5830-C64E-A066-2B746C1921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1. Desarrollo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F7B486-471E-339A-69C7-7D2482A63F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8282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4D727-7259-7679-F2D7-4A6078973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7838D-34D4-EC94-8D3D-ECA424EB7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F6B3BE-709E-9DB1-32FE-B1093DEA71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Actividades a reconocer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5DCC14-2320-E7E6-143A-B2B7A80AA65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96CED92-78D1-4587-A8C3-902B6CBBD52C}" type="slidenum">
              <a:rPr lang="es-ES" smtClean="0"/>
              <a:pPr/>
              <a:t>2</a:t>
            </a:fld>
            <a:r>
              <a:rPr lang="es-ES" dirty="0"/>
              <a:t>/48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2F02B5F-1709-C5A2-A070-88E6969975F3}"/>
              </a:ext>
            </a:extLst>
          </p:cNvPr>
          <p:cNvSpPr txBox="1"/>
          <p:nvPr/>
        </p:nvSpPr>
        <p:spPr>
          <a:xfrm>
            <a:off x="420244" y="2939534"/>
            <a:ext cx="2377440" cy="451025"/>
          </a:xfrm>
          <a:prstGeom prst="rect">
            <a:avLst/>
          </a:prstGeom>
          <a:ln>
            <a:solidFill>
              <a:srgbClr val="01579B"/>
            </a:solidFill>
          </a:ln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es-ES" dirty="0"/>
              <a:t>Cepillarse el pelo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B8D8E91-ACD2-BFBA-F8CE-43C97879CE18}"/>
              </a:ext>
            </a:extLst>
          </p:cNvPr>
          <p:cNvSpPr txBox="1"/>
          <p:nvPr/>
        </p:nvSpPr>
        <p:spPr>
          <a:xfrm>
            <a:off x="3306636" y="2923456"/>
            <a:ext cx="2377440" cy="451025"/>
          </a:xfrm>
          <a:prstGeom prst="rect">
            <a:avLst/>
          </a:prstGeom>
          <a:ln>
            <a:solidFill>
              <a:srgbClr val="01579B"/>
            </a:solidFill>
          </a:ln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es-ES" dirty="0"/>
              <a:t>Lavarse los dientes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E8C4C3FB-472C-3228-0522-BF3E0C2A9FE7}"/>
              </a:ext>
            </a:extLst>
          </p:cNvPr>
          <p:cNvSpPr txBox="1"/>
          <p:nvPr/>
        </p:nvSpPr>
        <p:spPr>
          <a:xfrm>
            <a:off x="6193028" y="2939534"/>
            <a:ext cx="2377440" cy="451025"/>
          </a:xfrm>
          <a:prstGeom prst="rect">
            <a:avLst/>
          </a:prstGeom>
          <a:ln>
            <a:solidFill>
              <a:srgbClr val="01579B"/>
            </a:solidFill>
          </a:ln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es-ES" dirty="0"/>
              <a:t>Echarse colonia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94027B3-7B87-3F62-3A2F-7DD9A0833171}"/>
              </a:ext>
            </a:extLst>
          </p:cNvPr>
          <p:cNvSpPr txBox="1"/>
          <p:nvPr/>
        </p:nvSpPr>
        <p:spPr>
          <a:xfrm>
            <a:off x="9079420" y="2939534"/>
            <a:ext cx="2377440" cy="451025"/>
          </a:xfrm>
          <a:prstGeom prst="rect">
            <a:avLst/>
          </a:prstGeom>
          <a:ln>
            <a:solidFill>
              <a:srgbClr val="01579B"/>
            </a:solidFill>
          </a:ln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es-ES" dirty="0"/>
              <a:t>Echarse desodorante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DF18A009-BC36-624A-3760-8A73E10F9BA3}"/>
              </a:ext>
            </a:extLst>
          </p:cNvPr>
          <p:cNvSpPr txBox="1"/>
          <p:nvPr/>
        </p:nvSpPr>
        <p:spPr>
          <a:xfrm>
            <a:off x="1917574" y="5394012"/>
            <a:ext cx="2377440" cy="451025"/>
          </a:xfrm>
          <a:prstGeom prst="rect">
            <a:avLst/>
          </a:prstGeom>
          <a:ln>
            <a:solidFill>
              <a:srgbClr val="01579B"/>
            </a:solidFill>
          </a:ln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es-ES" dirty="0"/>
              <a:t>Lavarse la cara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64CDB4C-1CCE-BCFB-F64B-C1ED828D34F4}"/>
              </a:ext>
            </a:extLst>
          </p:cNvPr>
          <p:cNvSpPr txBox="1"/>
          <p:nvPr/>
        </p:nvSpPr>
        <p:spPr>
          <a:xfrm>
            <a:off x="4798493" y="5394012"/>
            <a:ext cx="2377440" cy="451025"/>
          </a:xfrm>
          <a:prstGeom prst="rect">
            <a:avLst/>
          </a:prstGeom>
          <a:ln>
            <a:solidFill>
              <a:srgbClr val="01579B"/>
            </a:solidFill>
          </a:ln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es-ES" dirty="0"/>
              <a:t>Lavarse las manos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5277D0B-9BF5-7719-C165-E1EFEE6C27EB}"/>
              </a:ext>
            </a:extLst>
          </p:cNvPr>
          <p:cNvSpPr txBox="1"/>
          <p:nvPr/>
        </p:nvSpPr>
        <p:spPr>
          <a:xfrm>
            <a:off x="7679412" y="5394012"/>
            <a:ext cx="2377440" cy="451025"/>
          </a:xfrm>
          <a:prstGeom prst="rect">
            <a:avLst/>
          </a:prstGeom>
          <a:ln>
            <a:solidFill>
              <a:srgbClr val="01579B"/>
            </a:solidFill>
          </a:ln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es-ES" dirty="0"/>
              <a:t>Tomarse las pastillas</a:t>
            </a:r>
          </a:p>
        </p:txBody>
      </p:sp>
      <p:pic>
        <p:nvPicPr>
          <p:cNvPr id="21" name="Imagen 20" descr="Dibujo en blanco y negro&#10;&#10;El contenido generado por IA puede ser incorrecto.">
            <a:extLst>
              <a:ext uri="{FF2B5EF4-FFF2-40B4-BE49-F238E27FC236}">
                <a16:creationId xmlns:a16="http://schemas.microsoft.com/office/drawing/2014/main" id="{814464A3-6370-43B9-6B23-2C93597BB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51" y="1067440"/>
            <a:ext cx="1853826" cy="1853826"/>
          </a:xfrm>
          <a:prstGeom prst="rect">
            <a:avLst/>
          </a:prstGeom>
        </p:spPr>
      </p:pic>
      <p:pic>
        <p:nvPicPr>
          <p:cNvPr id="33" name="Imagen 32" descr="Un dibujo de una persona&#10;&#10;El contenido generado por IA puede ser incorrecto.">
            <a:extLst>
              <a:ext uri="{FF2B5EF4-FFF2-40B4-BE49-F238E27FC236}">
                <a16:creationId xmlns:a16="http://schemas.microsoft.com/office/drawing/2014/main" id="{A15863CC-C6D5-907C-F70A-FA4AE8902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362" y="1067062"/>
            <a:ext cx="1853826" cy="1853826"/>
          </a:xfrm>
          <a:prstGeom prst="rect">
            <a:avLst/>
          </a:prstGeom>
        </p:spPr>
      </p:pic>
      <p:pic>
        <p:nvPicPr>
          <p:cNvPr id="35" name="Imagen 34" descr="Un dibujo de un personaje animado&#10;&#10;El contenido generado por IA puede ser incorrecto.">
            <a:extLst>
              <a:ext uri="{FF2B5EF4-FFF2-40B4-BE49-F238E27FC236}">
                <a16:creationId xmlns:a16="http://schemas.microsoft.com/office/drawing/2014/main" id="{ACB94DE8-61CE-35EB-1DB7-9FC3E68E1045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b="15626"/>
          <a:stretch>
            <a:fillRect/>
          </a:stretch>
        </p:blipFill>
        <p:spPr>
          <a:xfrm>
            <a:off x="9537764" y="1067062"/>
            <a:ext cx="1460752" cy="1848744"/>
          </a:xfrm>
          <a:prstGeom prst="rect">
            <a:avLst/>
          </a:prstGeom>
        </p:spPr>
      </p:pic>
      <p:pic>
        <p:nvPicPr>
          <p:cNvPr id="39" name="Imagen 38" descr="Un dibujo en blanco y negro&#10;&#10;El contenido generado por IA puede ser incorrecto.">
            <a:extLst>
              <a:ext uri="{FF2B5EF4-FFF2-40B4-BE49-F238E27FC236}">
                <a16:creationId xmlns:a16="http://schemas.microsoft.com/office/drawing/2014/main" id="{B0AF628F-95C4-8E51-B442-8E54FF176A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1400" y="3532766"/>
            <a:ext cx="1851807" cy="1851807"/>
          </a:xfrm>
          <a:prstGeom prst="rect">
            <a:avLst/>
          </a:prstGeom>
        </p:spPr>
      </p:pic>
      <p:pic>
        <p:nvPicPr>
          <p:cNvPr id="41" name="Imagen 40" descr="Un dibujo de la cara de una persona&#10;&#10;El contenido generado por IA puede ser incorrecto.">
            <a:extLst>
              <a:ext uri="{FF2B5EF4-FFF2-40B4-BE49-F238E27FC236}">
                <a16:creationId xmlns:a16="http://schemas.microsoft.com/office/drawing/2014/main" id="{3DDF69E3-3FA9-6F07-432E-CDAC193FD4A2}"/>
              </a:ext>
            </a:extLst>
          </p:cNvPr>
          <p:cNvPicPr>
            <a:picLocks noChangeAspect="1"/>
          </p:cNvPicPr>
          <p:nvPr/>
        </p:nvPicPr>
        <p:blipFill>
          <a:blip r:embed="rId8">
            <a:biLevel thresh="75000"/>
          </a:blip>
          <a:srcRect l="19619" t="1452" r="18169" b="9459"/>
          <a:stretch>
            <a:fillRect/>
          </a:stretch>
        </p:blipFill>
        <p:spPr>
          <a:xfrm>
            <a:off x="5060300" y="3585277"/>
            <a:ext cx="1853826" cy="1769827"/>
          </a:xfrm>
          <a:prstGeom prst="rect">
            <a:avLst/>
          </a:prstGeom>
        </p:spPr>
      </p:pic>
      <p:pic>
        <p:nvPicPr>
          <p:cNvPr id="44" name="Imagen 43" descr="Un dibujo de un perro&#10;&#10;El contenido generado por IA puede ser incorrecto.">
            <a:extLst>
              <a:ext uri="{FF2B5EF4-FFF2-40B4-BE49-F238E27FC236}">
                <a16:creationId xmlns:a16="http://schemas.microsoft.com/office/drawing/2014/main" id="{25FFA6BE-28F2-72F7-24EE-832A99D2DC3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6228"/>
          <a:stretch>
            <a:fillRect/>
          </a:stretch>
        </p:blipFill>
        <p:spPr>
          <a:xfrm>
            <a:off x="7941219" y="3614746"/>
            <a:ext cx="1887385" cy="1769827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9C8BB679-6677-8947-1C88-483DD0C1371E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806724" y="1176933"/>
            <a:ext cx="1371791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601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6B2E65-DA92-48FE-A445-BB3A1AF9A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C2F60D-B467-4145-8E4D-B668AB79F0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Creación del dataset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DCC5BEB-D319-4AEF-BA07-604AB22C07C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96CED92-78D1-4587-A8C3-902B6CBBD52C}" type="slidenum">
              <a:rPr lang="es-ES" smtClean="0"/>
              <a:pPr/>
              <a:t>3</a:t>
            </a:fld>
            <a:r>
              <a:rPr lang="es-ES" dirty="0"/>
              <a:t>/48</a:t>
            </a:r>
          </a:p>
        </p:txBody>
      </p:sp>
      <p:pic>
        <p:nvPicPr>
          <p:cNvPr id="10" name="Marcador de contenido 9" descr="Diagrama&#10;&#10;El contenido generado por IA puede ser incorrecto.">
            <a:extLst>
              <a:ext uri="{FF2B5EF4-FFF2-40B4-BE49-F238E27FC236}">
                <a16:creationId xmlns:a16="http://schemas.microsoft.com/office/drawing/2014/main" id="{998087B5-8432-CFE5-08F0-C0D94305E47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6984" y="1252538"/>
            <a:ext cx="8243106" cy="4352925"/>
          </a:xfrm>
        </p:spPr>
      </p:pic>
    </p:spTree>
    <p:extLst>
      <p:ext uri="{BB962C8B-B14F-4D97-AF65-F5344CB8AC3E}">
        <p14:creationId xmlns:p14="http://schemas.microsoft.com/office/powerpoint/2010/main" val="277241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A46BA-61F0-A0BE-9B88-BFDB353E3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507406-D320-C347-7088-C9E1CCC5C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D201BEF-2F67-0EBF-8341-C7A8DB5047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Creación del dataset – Obtención de keypoints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02A8E0-F494-820F-E7D8-567034523E2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96CED92-78D1-4587-A8C3-902B6CBBD52C}" type="slidenum">
              <a:rPr lang="es-ES" smtClean="0"/>
              <a:pPr/>
              <a:t>4</a:t>
            </a:fld>
            <a:r>
              <a:rPr lang="es-ES" dirty="0"/>
              <a:t>/48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8E3AA86D-AC19-209C-0441-FB3E5F8228F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527962" y="224274"/>
            <a:ext cx="1447191" cy="1790998"/>
          </a:xfrm>
        </p:spPr>
      </p:pic>
      <p:pic>
        <p:nvPicPr>
          <p:cNvPr id="15" name="Imagen 14" descr="Gráfico&#10;&#10;El contenido generado por IA puede ser incorrecto.">
            <a:extLst>
              <a:ext uri="{FF2B5EF4-FFF2-40B4-BE49-F238E27FC236}">
                <a16:creationId xmlns:a16="http://schemas.microsoft.com/office/drawing/2014/main" id="{25EDF345-BD21-87FB-5BFF-28AEDBA584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00" r="21139"/>
          <a:stretch>
            <a:fillRect/>
          </a:stretch>
        </p:blipFill>
        <p:spPr>
          <a:xfrm>
            <a:off x="7778831" y="2193310"/>
            <a:ext cx="2749131" cy="257270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7A38688-A351-30EA-C050-51797FD341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5534" y="1020885"/>
            <a:ext cx="6108690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972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7D38E-965F-89A1-262B-BB6F28712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37591D-BEAF-CE3B-224D-BC4DBF001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444898-684A-BD21-1EEE-DF054372B9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Creación del dataset – Anotar keypoints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BECAE39-A9B5-B49F-C5FD-8F8D14C7A33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96CED92-78D1-4587-A8C3-902B6CBBD52C}" type="slidenum">
              <a:rPr lang="es-ES" smtClean="0"/>
              <a:pPr/>
              <a:t>5</a:t>
            </a:fld>
            <a:r>
              <a:rPr lang="es-ES" dirty="0"/>
              <a:t>/48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3A49753C-6754-15FF-6FD4-572F0203792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269940" y="224274"/>
            <a:ext cx="1705213" cy="1200318"/>
          </a:xfrm>
        </p:spPr>
      </p:pic>
      <p:grpSp>
        <p:nvGrpSpPr>
          <p:cNvPr id="21" name="Grupo 20">
            <a:extLst>
              <a:ext uri="{FF2B5EF4-FFF2-40B4-BE49-F238E27FC236}">
                <a16:creationId xmlns:a16="http://schemas.microsoft.com/office/drawing/2014/main" id="{91027A08-8EA9-000F-AD11-ADC8EBF4C610}"/>
              </a:ext>
            </a:extLst>
          </p:cNvPr>
          <p:cNvGrpSpPr/>
          <p:nvPr/>
        </p:nvGrpSpPr>
        <p:grpSpPr>
          <a:xfrm>
            <a:off x="669525" y="1148056"/>
            <a:ext cx="9209380" cy="4719841"/>
            <a:chOff x="1016660" y="1229502"/>
            <a:chExt cx="9209380" cy="4719841"/>
          </a:xfrm>
        </p:grpSpPr>
        <p:pic>
          <p:nvPicPr>
            <p:cNvPr id="10" name="Imagen 9" descr="Texto&#10;&#10;El contenido generado por IA puede ser incorrecto.">
              <a:extLst>
                <a:ext uri="{FF2B5EF4-FFF2-40B4-BE49-F238E27FC236}">
                  <a16:creationId xmlns:a16="http://schemas.microsoft.com/office/drawing/2014/main" id="{8B5F66AA-35F5-CDAB-2193-11655714B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1333" b="11000"/>
            <a:stretch>
              <a:fillRect/>
            </a:stretch>
          </p:blipFill>
          <p:spPr>
            <a:xfrm>
              <a:off x="4809248" y="1229502"/>
              <a:ext cx="5416792" cy="1471758"/>
            </a:xfrm>
            <a:prstGeom prst="rect">
              <a:avLst/>
            </a:prstGeom>
          </p:spPr>
        </p:pic>
        <p:pic>
          <p:nvPicPr>
            <p:cNvPr id="15" name="Imagen 14" descr="Texto&#10;&#10;El contenido generado por IA puede ser incorrecto.">
              <a:extLst>
                <a:ext uri="{FF2B5EF4-FFF2-40B4-BE49-F238E27FC236}">
                  <a16:creationId xmlns:a16="http://schemas.microsoft.com/office/drawing/2014/main" id="{9DEA6F21-A6EC-E296-CADD-81EAC2CC3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1333"/>
            <a:stretch>
              <a:fillRect/>
            </a:stretch>
          </p:blipFill>
          <p:spPr>
            <a:xfrm>
              <a:off x="4809248" y="4520004"/>
              <a:ext cx="5416792" cy="1429339"/>
            </a:xfrm>
            <a:prstGeom prst="rect">
              <a:avLst/>
            </a:prstGeom>
          </p:spPr>
        </p:pic>
        <p:pic>
          <p:nvPicPr>
            <p:cNvPr id="16" name="Imagen 15" descr="Gráfico&#10;&#10;El contenido generado por IA puede ser incorrecto.">
              <a:extLst>
                <a:ext uri="{FF2B5EF4-FFF2-40B4-BE49-F238E27FC236}">
                  <a16:creationId xmlns:a16="http://schemas.microsoft.com/office/drawing/2014/main" id="{01B32DC5-0A0F-4613-34B6-E5B6B3DEC4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200" r="21139"/>
            <a:stretch>
              <a:fillRect/>
            </a:stretch>
          </p:blipFill>
          <p:spPr>
            <a:xfrm>
              <a:off x="1016660" y="2324281"/>
              <a:ext cx="2749131" cy="2572702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76181304-445F-2E57-F8B7-42F38CDE7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016019" y="1783928"/>
              <a:ext cx="543001" cy="3702472"/>
            </a:xfrm>
            <a:prstGeom prst="rect">
              <a:avLst/>
            </a:prstGeom>
          </p:spPr>
        </p:pic>
      </p:grp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492B2AE-0B30-C74D-13B9-39D60CB8EC5C}"/>
              </a:ext>
            </a:extLst>
          </p:cNvPr>
          <p:cNvSpPr txBox="1"/>
          <p:nvPr/>
        </p:nvSpPr>
        <p:spPr>
          <a:xfrm>
            <a:off x="9882753" y="1148762"/>
            <a:ext cx="1610360" cy="147105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r>
              <a:rPr lang="es-ES" dirty="0"/>
              <a:t>473 puntos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DA452D4-B0BD-BD64-2BB7-DF6587DCA434}"/>
              </a:ext>
            </a:extLst>
          </p:cNvPr>
          <p:cNvSpPr txBox="1"/>
          <p:nvPr/>
        </p:nvSpPr>
        <p:spPr>
          <a:xfrm>
            <a:off x="9882753" y="2793306"/>
            <a:ext cx="1610360" cy="147105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r>
              <a:rPr lang="es-ES" dirty="0"/>
              <a:t>8 puntos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E6EF187-8B29-7BB4-795E-D70AA7BCF3D3}"/>
              </a:ext>
            </a:extLst>
          </p:cNvPr>
          <p:cNvSpPr txBox="1"/>
          <p:nvPr/>
        </p:nvSpPr>
        <p:spPr>
          <a:xfrm>
            <a:off x="9878905" y="4447426"/>
            <a:ext cx="1610360" cy="147105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r>
              <a:rPr lang="es-ES" dirty="0"/>
              <a:t>21 puntos por mano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EA4D966-51CD-6D01-2737-E0F6C7A334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2113" y="2802177"/>
            <a:ext cx="5416792" cy="15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827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F641F-2650-C8B3-28B1-909ECFF0D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983247-8921-186E-2564-1BA2AEB01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7B8581D-07F6-80F5-B51A-D5A412E27E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Creación del dataset – Anotar las acciones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63F08F-762A-4F76-1465-A64CF2CD7F8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96CED92-78D1-4587-A8C3-902B6CBBD52C}" type="slidenum">
              <a:rPr lang="es-ES" smtClean="0"/>
              <a:pPr/>
              <a:t>6</a:t>
            </a:fld>
            <a:r>
              <a:rPr lang="es-ES" dirty="0"/>
              <a:t>/48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5ABFE467-F209-CE36-15C9-DAD30998D76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298519" y="224274"/>
            <a:ext cx="1676634" cy="1228896"/>
          </a:xfrm>
        </p:spPr>
      </p:pic>
      <p:grpSp>
        <p:nvGrpSpPr>
          <p:cNvPr id="16" name="Grupo 15">
            <a:extLst>
              <a:ext uri="{FF2B5EF4-FFF2-40B4-BE49-F238E27FC236}">
                <a16:creationId xmlns:a16="http://schemas.microsoft.com/office/drawing/2014/main" id="{49C54F09-3C50-93F7-32A5-9B8D881A6238}"/>
              </a:ext>
            </a:extLst>
          </p:cNvPr>
          <p:cNvGrpSpPr/>
          <p:nvPr/>
        </p:nvGrpSpPr>
        <p:grpSpPr>
          <a:xfrm>
            <a:off x="933685" y="1880044"/>
            <a:ext cx="10324630" cy="3097912"/>
            <a:chOff x="669525" y="1880044"/>
            <a:chExt cx="10324630" cy="3097912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85158189-E6B1-0FD1-D587-8B1027E6AC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32226"/>
            <a:stretch>
              <a:fillRect/>
            </a:stretch>
          </p:blipFill>
          <p:spPr>
            <a:xfrm>
              <a:off x="669525" y="2529210"/>
              <a:ext cx="3677685" cy="1664119"/>
            </a:xfrm>
            <a:prstGeom prst="rect">
              <a:avLst/>
            </a:prstGeom>
          </p:spPr>
        </p:pic>
        <p:pic>
          <p:nvPicPr>
            <p:cNvPr id="12" name="Imagen 11" descr="Texto&#10;&#10;El contenido generado por IA puede ser incorrecto.">
              <a:extLst>
                <a:ext uri="{FF2B5EF4-FFF2-40B4-BE49-F238E27FC236}">
                  <a16:creationId xmlns:a16="http://schemas.microsoft.com/office/drawing/2014/main" id="{1DEE09BC-38BD-B756-8B91-0D50B3C24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20"/>
            <a:stretch>
              <a:fillRect/>
            </a:stretch>
          </p:blipFill>
          <p:spPr>
            <a:xfrm>
              <a:off x="7031412" y="1880044"/>
              <a:ext cx="3962743" cy="3097912"/>
            </a:xfrm>
            <a:prstGeom prst="rect">
              <a:avLst/>
            </a:prstGeom>
          </p:spPr>
        </p:pic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44288676-36F9-B483-DCF3-49B04E17F2AC}"/>
                </a:ext>
              </a:extLst>
            </p:cNvPr>
            <p:cNvCxnSpPr>
              <a:cxnSpLocks/>
            </p:cNvCxnSpPr>
            <p:nvPr/>
          </p:nvCxnSpPr>
          <p:spPr>
            <a:xfrm>
              <a:off x="4968240" y="3429000"/>
              <a:ext cx="136810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2507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2F235-CDDA-D2FF-15EC-069256BC8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190BC-A726-D3D4-49CC-F06BABCF7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3E01C2-78C3-1716-88B8-10F7E7BB10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Creación del dataset – Cargar los datos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7171045-A9AD-2281-FF2A-ABDBB3C26D4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96CED92-78D1-4587-A8C3-902B6CBBD52C}" type="slidenum">
              <a:rPr lang="es-ES" smtClean="0"/>
              <a:pPr/>
              <a:t>7</a:t>
            </a:fld>
            <a:r>
              <a:rPr lang="es-ES" dirty="0"/>
              <a:t>/48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D172FF5B-2DD5-E0CC-3A4A-003466AAFD1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308045" y="224274"/>
            <a:ext cx="1667108" cy="1247949"/>
          </a:xfrm>
        </p:spPr>
      </p:pic>
      <p:pic>
        <p:nvPicPr>
          <p:cNvPr id="9" name="Imagen 8" descr="Texto&#10;&#10;El contenido generado por IA puede ser incorrecto.">
            <a:extLst>
              <a:ext uri="{FF2B5EF4-FFF2-40B4-BE49-F238E27FC236}">
                <a16:creationId xmlns:a16="http://schemas.microsoft.com/office/drawing/2014/main" id="{E82C0F82-9F1F-A967-D9C8-8DE1DCA79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333" b="11000"/>
          <a:stretch>
            <a:fillRect/>
          </a:stretch>
        </p:blipFill>
        <p:spPr>
          <a:xfrm>
            <a:off x="1186372" y="1148056"/>
            <a:ext cx="5416792" cy="1471758"/>
          </a:xfrm>
          <a:prstGeom prst="rect">
            <a:avLst/>
          </a:prstGeom>
        </p:spPr>
      </p:pic>
      <p:pic>
        <p:nvPicPr>
          <p:cNvPr id="11" name="Imagen 10" descr="Texto&#10;&#10;El contenido generado por IA puede ser incorrecto.">
            <a:extLst>
              <a:ext uri="{FF2B5EF4-FFF2-40B4-BE49-F238E27FC236}">
                <a16:creationId xmlns:a16="http://schemas.microsoft.com/office/drawing/2014/main" id="{8FDB50A3-12BD-4737-EEF1-EEA10F355B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333"/>
          <a:stretch>
            <a:fillRect/>
          </a:stretch>
        </p:blipFill>
        <p:spPr>
          <a:xfrm>
            <a:off x="1186372" y="4438558"/>
            <a:ext cx="5416792" cy="142933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21880DD-C76E-7C6B-C47D-E23A93C4C8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7780" y="1862078"/>
            <a:ext cx="3381847" cy="33342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ADD03045-CA26-9F1A-47E3-F263B15513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5366" y="1652499"/>
            <a:ext cx="800212" cy="375337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D3AF056-CE09-D703-24A3-9C6566E353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6371" y="2791025"/>
            <a:ext cx="5416792" cy="15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97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0305E-3B72-2AE7-63AF-3684434EA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06CA50-93E1-0C8C-9085-59B9BCFC9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70DB05-AFA4-CC66-1FA5-EEE635B971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Creación del dataset – Cargar los datos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B583A6-B52A-88BB-1C45-136A152F171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96CED92-78D1-4587-A8C3-902B6CBBD52C}" type="slidenum">
              <a:rPr lang="es-ES" smtClean="0"/>
              <a:pPr/>
              <a:t>8</a:t>
            </a:fld>
            <a:r>
              <a:rPr lang="es-ES" dirty="0"/>
              <a:t>/48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00FE8206-3524-F001-52FE-EAC7E76A436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308045" y="224274"/>
            <a:ext cx="1667108" cy="1247949"/>
          </a:xfrm>
        </p:spPr>
      </p:pic>
      <p:pic>
        <p:nvPicPr>
          <p:cNvPr id="9" name="Imagen 8" descr="Texto&#10;&#10;El contenido generado por IA puede ser incorrecto.">
            <a:extLst>
              <a:ext uri="{FF2B5EF4-FFF2-40B4-BE49-F238E27FC236}">
                <a16:creationId xmlns:a16="http://schemas.microsoft.com/office/drawing/2014/main" id="{BA773813-0AA6-B2A8-BA72-DE06C9103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333" b="11000"/>
          <a:stretch>
            <a:fillRect/>
          </a:stretch>
        </p:blipFill>
        <p:spPr>
          <a:xfrm>
            <a:off x="1186372" y="1148056"/>
            <a:ext cx="5416792" cy="1471758"/>
          </a:xfrm>
          <a:prstGeom prst="rect">
            <a:avLst/>
          </a:prstGeom>
        </p:spPr>
      </p:pic>
      <p:pic>
        <p:nvPicPr>
          <p:cNvPr id="11" name="Imagen 10" descr="Texto&#10;&#10;El contenido generado por IA puede ser incorrecto.">
            <a:extLst>
              <a:ext uri="{FF2B5EF4-FFF2-40B4-BE49-F238E27FC236}">
                <a16:creationId xmlns:a16="http://schemas.microsoft.com/office/drawing/2014/main" id="{46F19443-CFE9-C26A-F769-039E8E8DDC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333"/>
          <a:stretch>
            <a:fillRect/>
          </a:stretch>
        </p:blipFill>
        <p:spPr>
          <a:xfrm>
            <a:off x="1186372" y="4438558"/>
            <a:ext cx="5416792" cy="142933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036E833-9DBF-2A19-226F-F6EFBE639E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7780" y="1862078"/>
            <a:ext cx="3381847" cy="33342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FA4F1ED2-7557-BE56-4EBA-E4DE67D3AD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5366" y="1652499"/>
            <a:ext cx="800212" cy="3753374"/>
          </a:xfrm>
          <a:prstGeom prst="rect">
            <a:avLst/>
          </a:prstGeom>
        </p:spPr>
      </p:pic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F3410805-54BA-4ABB-29BC-FF64D4011F18}"/>
              </a:ext>
            </a:extLst>
          </p:cNvPr>
          <p:cNvCxnSpPr/>
          <p:nvPr/>
        </p:nvCxnSpPr>
        <p:spPr>
          <a:xfrm>
            <a:off x="1071687" y="1148056"/>
            <a:ext cx="5703679" cy="147175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05698D51-B359-9903-5D2C-DE24EC6F86CB}"/>
              </a:ext>
            </a:extLst>
          </p:cNvPr>
          <p:cNvCxnSpPr>
            <a:cxnSpLocks/>
          </p:cNvCxnSpPr>
          <p:nvPr/>
        </p:nvCxnSpPr>
        <p:spPr>
          <a:xfrm flipV="1">
            <a:off x="1042928" y="1148056"/>
            <a:ext cx="5703679" cy="147175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52F547F2-E260-FFFE-82AB-658992B5D0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6371" y="2791025"/>
            <a:ext cx="5416792" cy="154539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4C52CDB-85BD-39A8-E565-FAA58CD98F2A}"/>
              </a:ext>
            </a:extLst>
          </p:cNvPr>
          <p:cNvSpPr txBox="1"/>
          <p:nvPr/>
        </p:nvSpPr>
        <p:spPr>
          <a:xfrm>
            <a:off x="0" y="2791025"/>
            <a:ext cx="1186371" cy="154539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r>
              <a:rPr lang="es-ES" dirty="0"/>
              <a:t>18 puntos</a:t>
            </a:r>
          </a:p>
        </p:txBody>
      </p:sp>
    </p:spTree>
    <p:extLst>
      <p:ext uri="{BB962C8B-B14F-4D97-AF65-F5344CB8AC3E}">
        <p14:creationId xmlns:p14="http://schemas.microsoft.com/office/powerpoint/2010/main" val="2776892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2B494-DD27-9617-4439-871F32BF8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0A79FB-B679-7342-9742-4AB51377E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FC8EC0-5F77-6874-7965-8893A45D8C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Creación del dataset – Almacenar las imágenes por acciones y usuario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D7BF26-4AA4-65AE-CC5E-C6E21E7839B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96CED92-78D1-4587-A8C3-902B6CBBD52C}" type="slidenum">
              <a:rPr lang="es-ES" smtClean="0"/>
              <a:pPr/>
              <a:t>9</a:t>
            </a:fld>
            <a:r>
              <a:rPr lang="es-ES" dirty="0"/>
              <a:t>/48</a:t>
            </a:r>
          </a:p>
        </p:txBody>
      </p:sp>
      <p:pic>
        <p:nvPicPr>
          <p:cNvPr id="18" name="Marcador de contenido 17" descr="Interfaz de usuario gráfica, Aplicación, Word&#10;&#10;El contenido generado por IA puede ser incorrecto.">
            <a:extLst>
              <a:ext uri="{FF2B5EF4-FFF2-40B4-BE49-F238E27FC236}">
                <a16:creationId xmlns:a16="http://schemas.microsoft.com/office/drawing/2014/main" id="{65A8D5D6-5E95-EC46-EDD3-61932BCC606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4" b="4557"/>
          <a:stretch>
            <a:fillRect/>
          </a:stretch>
        </p:blipFill>
        <p:spPr>
          <a:xfrm>
            <a:off x="669525" y="1145910"/>
            <a:ext cx="6286459" cy="2211970"/>
          </a:xfr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F91F7B7-B6FC-408D-EF54-2D14DDA64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8466" y="224274"/>
            <a:ext cx="1876687" cy="1314633"/>
          </a:xfrm>
          <a:prstGeom prst="rect">
            <a:avLst/>
          </a:prstGeom>
        </p:spPr>
      </p:pic>
      <p:pic>
        <p:nvPicPr>
          <p:cNvPr id="20" name="Imagen 19" descr="Interfaz de usuario gráfica, Word&#10;&#10;El contenido generado por IA puede ser incorrecto.">
            <a:extLst>
              <a:ext uri="{FF2B5EF4-FFF2-40B4-BE49-F238E27FC236}">
                <a16:creationId xmlns:a16="http://schemas.microsoft.com/office/drawing/2014/main" id="{B7905DB2-B7A3-F505-3CB5-9FCF838A6F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27"/>
          <a:stretch>
            <a:fillRect/>
          </a:stretch>
        </p:blipFill>
        <p:spPr>
          <a:xfrm>
            <a:off x="669525" y="3530354"/>
            <a:ext cx="6286459" cy="2211971"/>
          </a:xfrm>
          <a:prstGeom prst="rect">
            <a:avLst/>
          </a:prstGeom>
        </p:spPr>
      </p:pic>
      <p:pic>
        <p:nvPicPr>
          <p:cNvPr id="12" name="Imagen 11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81C00F40-7376-7E52-6C3D-9F5F29048C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0274" y="2105901"/>
            <a:ext cx="4202201" cy="2646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17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62A7E-BE16-AB1C-37ED-A45A4905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16440F-354B-FB8C-ED0E-A3EAEA6DE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4A0CC6F-7196-373B-105D-4C8C292C90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Entrenamiento del modelo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B97981F-3489-7FAB-3DDD-73A96AF8DD8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96CED92-78D1-4587-A8C3-902B6CBBD52C}" type="slidenum">
              <a:rPr lang="es-ES" smtClean="0"/>
              <a:pPr/>
              <a:t>10</a:t>
            </a:fld>
            <a:r>
              <a:rPr lang="es-ES" dirty="0"/>
              <a:t>/48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141FB49-B0B4-093B-B4DF-CF1AB06FF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2772" y="1469985"/>
            <a:ext cx="4982381" cy="4134683"/>
          </a:xfrm>
        </p:spPr>
        <p:txBody>
          <a:bodyPr/>
          <a:lstStyle/>
          <a:p>
            <a:endParaRPr lang="es-ES" b="1" dirty="0"/>
          </a:p>
          <a:p>
            <a:pPr marL="0" indent="0">
              <a:buNone/>
            </a:pPr>
            <a:endParaRPr lang="es-ES" sz="2800" b="1" dirty="0"/>
          </a:p>
          <a:p>
            <a:r>
              <a:rPr lang="es-ES" b="1" dirty="0" err="1"/>
              <a:t>Batch_size</a:t>
            </a:r>
            <a:r>
              <a:rPr lang="es-ES" b="1" dirty="0"/>
              <a:t> = 4</a:t>
            </a:r>
          </a:p>
          <a:p>
            <a:r>
              <a:rPr lang="es-ES" b="1" dirty="0" err="1"/>
              <a:t>Optimizer</a:t>
            </a:r>
            <a:r>
              <a:rPr lang="es-ES" b="1" dirty="0"/>
              <a:t> = Adam y </a:t>
            </a:r>
            <a:r>
              <a:rPr lang="es-ES" b="1" dirty="0" err="1"/>
              <a:t>Learning_rate</a:t>
            </a:r>
            <a:r>
              <a:rPr lang="es-ES" b="1" dirty="0"/>
              <a:t> = 0.0003</a:t>
            </a:r>
          </a:p>
          <a:p>
            <a:r>
              <a:rPr lang="es-ES" b="1" dirty="0" err="1"/>
              <a:t>Epochs</a:t>
            </a:r>
            <a:r>
              <a:rPr lang="es-ES" b="1" dirty="0"/>
              <a:t> = 1000 con </a:t>
            </a:r>
            <a:r>
              <a:rPr lang="es-ES" b="1" dirty="0" err="1"/>
              <a:t>EarlyStopping</a:t>
            </a:r>
            <a:endParaRPr lang="es-ES" b="1" dirty="0"/>
          </a:p>
          <a:p>
            <a:r>
              <a:rPr lang="es-ES" b="1" dirty="0" err="1"/>
              <a:t>EarlyStopping.pacience</a:t>
            </a:r>
            <a:r>
              <a:rPr lang="es-ES" b="1" dirty="0"/>
              <a:t> = 50</a:t>
            </a:r>
          </a:p>
          <a:p>
            <a:r>
              <a:rPr lang="es-ES" b="1" dirty="0" err="1"/>
              <a:t>ModelCheckpoint</a:t>
            </a:r>
            <a:endParaRPr lang="es-ES" b="1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1E741DA-0250-1B16-97E1-7DA75B61A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95" y="1047417"/>
            <a:ext cx="6287377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429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AA952-7231-7208-7CAB-180AAACD4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4B485F-11E7-64D3-7FE5-E868331751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2. Resultados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8FE5D1-3E95-415D-5D52-961E4E5CB4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6263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DA352-A35E-6FFB-7A99-798445080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47CD20-F015-5342-805F-BA6B048A5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B68606-A93D-6D5F-6FDF-4E8E439B4C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División del dataset en </a:t>
            </a:r>
            <a:r>
              <a:rPr lang="es-ES" dirty="0" err="1"/>
              <a:t>train</a:t>
            </a:r>
            <a:r>
              <a:rPr lang="es-ES" dirty="0"/>
              <a:t>, </a:t>
            </a:r>
            <a:r>
              <a:rPr lang="es-ES" dirty="0" err="1"/>
              <a:t>validation</a:t>
            </a:r>
            <a:r>
              <a:rPr lang="es-ES" dirty="0"/>
              <a:t> y test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235563E-81BD-E965-AE0B-576A6E3DD34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96CED92-78D1-4587-A8C3-902B6CBBD52C}" type="slidenum">
              <a:rPr lang="es-ES" smtClean="0"/>
              <a:pPr/>
              <a:t>12</a:t>
            </a:fld>
            <a:r>
              <a:rPr lang="es-ES" dirty="0"/>
              <a:t>/48</a:t>
            </a:r>
          </a:p>
        </p:txBody>
      </p:sp>
      <p:pic>
        <p:nvPicPr>
          <p:cNvPr id="7" name="Marcador de contenido 6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9F0603E2-2D2F-F69D-C18A-93467F854DB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905" y="1577952"/>
            <a:ext cx="4754270" cy="3702096"/>
          </a:xfrm>
        </p:spPr>
      </p:pic>
      <p:pic>
        <p:nvPicPr>
          <p:cNvPr id="10" name="Imagen 9" descr="Diagrama&#10;&#10;El contenido generado por IA puede ser incorrecto.">
            <a:extLst>
              <a:ext uri="{FF2B5EF4-FFF2-40B4-BE49-F238E27FC236}">
                <a16:creationId xmlns:a16="http://schemas.microsoft.com/office/drawing/2014/main" id="{05CD1D06-425A-BDC6-5BB7-D8640F0D11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0175" y="2297332"/>
            <a:ext cx="6447079" cy="226333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8091FDB-665D-47CE-9D9C-75053173D30D}"/>
              </a:ext>
            </a:extLst>
          </p:cNvPr>
          <p:cNvSpPr txBox="1"/>
          <p:nvPr/>
        </p:nvSpPr>
        <p:spPr>
          <a:xfrm>
            <a:off x="4564387" y="3787109"/>
            <a:ext cx="2377440" cy="451025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es-ES" sz="1600" dirty="0">
                <a:solidFill>
                  <a:srgbClr val="1D4999"/>
                </a:solidFill>
              </a:rPr>
              <a:t>4.500 imágenes</a:t>
            </a:r>
          </a:p>
        </p:txBody>
      </p:sp>
    </p:spTree>
    <p:extLst>
      <p:ext uri="{BB962C8B-B14F-4D97-AF65-F5344CB8AC3E}">
        <p14:creationId xmlns:p14="http://schemas.microsoft.com/office/powerpoint/2010/main" val="1052061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3FCB7-E3AF-3C21-2E91-D5E019E35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37F1E7-9B26-9845-5B1E-B0F00A447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B63C4E-CF1D-C2D4-F7C1-A8A320BC7A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Evolución del entrenamiento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B16FF0-BE7A-BC5A-77AB-DD51C404AEC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96CED92-78D1-4587-A8C3-902B6CBBD52C}" type="slidenum">
              <a:rPr lang="es-ES" smtClean="0"/>
              <a:pPr/>
              <a:t>13</a:t>
            </a:fld>
            <a:r>
              <a:rPr lang="es-ES" dirty="0"/>
              <a:t>/48</a:t>
            </a:r>
          </a:p>
        </p:txBody>
      </p:sp>
      <p:pic>
        <p:nvPicPr>
          <p:cNvPr id="7" name="Marcador de contenido 6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E954BBF0-F768-D76D-9917-A47C45E1BF1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47"/>
          <a:stretch>
            <a:fillRect/>
          </a:stretch>
        </p:blipFill>
        <p:spPr>
          <a:xfrm>
            <a:off x="3044395" y="1973847"/>
            <a:ext cx="6103209" cy="2851800"/>
          </a:xfrm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A72EFE9-B04B-3271-8365-158D372C9339}"/>
              </a:ext>
            </a:extLst>
          </p:cNvPr>
          <p:cNvSpPr txBox="1"/>
          <p:nvPr/>
        </p:nvSpPr>
        <p:spPr>
          <a:xfrm>
            <a:off x="3044395" y="4825647"/>
            <a:ext cx="6103209" cy="60124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es-ES" dirty="0"/>
              <a:t>Evolución de la precisión</a:t>
            </a:r>
          </a:p>
        </p:txBody>
      </p:sp>
      <p:sp>
        <p:nvSpPr>
          <p:cNvPr id="9" name="Marcador de contenido 5">
            <a:extLst>
              <a:ext uri="{FF2B5EF4-FFF2-40B4-BE49-F238E27FC236}">
                <a16:creationId xmlns:a16="http://schemas.microsoft.com/office/drawing/2014/main" id="{FC8ECA8B-41FA-F4E7-C3AB-89F4399FAEE3}"/>
              </a:ext>
            </a:extLst>
          </p:cNvPr>
          <p:cNvSpPr txBox="1">
            <a:spLocks/>
          </p:cNvSpPr>
          <p:nvPr/>
        </p:nvSpPr>
        <p:spPr>
          <a:xfrm>
            <a:off x="647182" y="1210767"/>
            <a:ext cx="10897636" cy="506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/>
              <a:t>Precisión del modelo entrenado: 95%</a:t>
            </a:r>
          </a:p>
        </p:txBody>
      </p:sp>
    </p:spTree>
    <p:extLst>
      <p:ext uri="{BB962C8B-B14F-4D97-AF65-F5344CB8AC3E}">
        <p14:creationId xmlns:p14="http://schemas.microsoft.com/office/powerpoint/2010/main" val="2655403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2A477-FA55-AD20-EF35-BE646DAE2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DA5BF9-C972-67E5-B310-1DB5AA035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C689850-BF2F-CB95-D671-62A400EABD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Evaluación del modelo - Matriz de confusión: test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D6E5617-0E63-BD3C-9503-B602569CF9F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96CED92-78D1-4587-A8C3-902B6CBBD52C}" type="slidenum">
              <a:rPr lang="es-ES" smtClean="0"/>
              <a:pPr/>
              <a:t>14</a:t>
            </a:fld>
            <a:r>
              <a:rPr lang="es-ES" dirty="0"/>
              <a:t>/48</a:t>
            </a:r>
          </a:p>
        </p:txBody>
      </p:sp>
      <p:pic>
        <p:nvPicPr>
          <p:cNvPr id="7" name="Marcador de contenido 6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FB23F266-54AF-B81B-74B4-6C14BBF8F6D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587" y="1252538"/>
            <a:ext cx="5803900" cy="4352925"/>
          </a:xfrm>
        </p:spPr>
      </p:pic>
    </p:spTree>
    <p:extLst>
      <p:ext uri="{BB962C8B-B14F-4D97-AF65-F5344CB8AC3E}">
        <p14:creationId xmlns:p14="http://schemas.microsoft.com/office/powerpoint/2010/main" val="2567333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670E9-FBC0-B39A-8753-50D69EF1D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47DC9A-4FB2-B43F-80FF-443DA4277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82763D-0783-B698-2731-816412DECC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Evaluación del modelo – Matriz de confusión: entrenamiento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AA58C4-AEB4-C49D-E80E-05253110874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96CED92-78D1-4587-A8C3-902B6CBBD52C}" type="slidenum">
              <a:rPr lang="es-ES" smtClean="0"/>
              <a:pPr/>
              <a:t>15</a:t>
            </a:fld>
            <a:r>
              <a:rPr lang="es-ES" dirty="0"/>
              <a:t>/48</a:t>
            </a:r>
          </a:p>
        </p:txBody>
      </p:sp>
      <p:pic>
        <p:nvPicPr>
          <p:cNvPr id="7" name="Marcador de contenido 6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A96C416A-FAF2-CB98-541A-EFC2E4A123A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587" y="1252538"/>
            <a:ext cx="5803900" cy="4352925"/>
          </a:xfrm>
        </p:spPr>
      </p:pic>
    </p:spTree>
    <p:extLst>
      <p:ext uri="{BB962C8B-B14F-4D97-AF65-F5344CB8AC3E}">
        <p14:creationId xmlns:p14="http://schemas.microsoft.com/office/powerpoint/2010/main" val="2125898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FEB59-F3CD-5A3F-C9C0-C5CBED1F3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9CDBED-83A6-D712-F032-159B472E8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2CC813-80C0-186C-D768-8BBD1D68C1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Evaluación del modelo - Matriz de confusión: validación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11E03B7-7096-B25E-8076-B8630DE1185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96CED92-78D1-4587-A8C3-902B6CBBD52C}" type="slidenum">
              <a:rPr lang="es-ES" smtClean="0"/>
              <a:pPr/>
              <a:t>16</a:t>
            </a:fld>
            <a:r>
              <a:rPr lang="es-ES" dirty="0"/>
              <a:t>/48</a:t>
            </a:r>
          </a:p>
        </p:txBody>
      </p:sp>
      <p:pic>
        <p:nvPicPr>
          <p:cNvPr id="9" name="Marcador de contenido 8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265C484A-EB2B-01AE-214F-CF8199BEB03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587" y="1252538"/>
            <a:ext cx="5803900" cy="4352925"/>
          </a:xfrm>
        </p:spPr>
      </p:pic>
    </p:spTree>
    <p:extLst>
      <p:ext uri="{BB962C8B-B14F-4D97-AF65-F5344CB8AC3E}">
        <p14:creationId xmlns:p14="http://schemas.microsoft.com/office/powerpoint/2010/main" val="2639860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96363-1376-30A5-B53B-6B222558B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80DD37-10B5-FEAA-72B6-511CDE6CB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D8B2EE-60BE-32B9-6CBD-AA13A5A869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Evaluación del modelo – Similitud de acciones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460E99-5FFB-988F-B067-5679C04E54F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96CED92-78D1-4587-A8C3-902B6CBBD52C}" type="slidenum">
              <a:rPr lang="es-ES" smtClean="0"/>
              <a:pPr/>
              <a:t>17</a:t>
            </a:fld>
            <a:r>
              <a:rPr lang="es-ES" dirty="0"/>
              <a:t>/48</a:t>
            </a:r>
          </a:p>
        </p:txBody>
      </p:sp>
      <p:pic>
        <p:nvPicPr>
          <p:cNvPr id="8" name="Marcador de contenido 7" descr="Una captura de pantalla de un celular con texto e imágenes&#10;&#10;El contenido generado por IA puede ser incorrecto.">
            <a:extLst>
              <a:ext uri="{FF2B5EF4-FFF2-40B4-BE49-F238E27FC236}">
                <a16:creationId xmlns:a16="http://schemas.microsoft.com/office/drawing/2014/main" id="{545F066C-6E8A-E170-1BC5-559133725F5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017" y="1340939"/>
            <a:ext cx="7613040" cy="4176122"/>
          </a:xfrm>
        </p:spPr>
      </p:pic>
    </p:spTree>
    <p:extLst>
      <p:ext uri="{BB962C8B-B14F-4D97-AF65-F5344CB8AC3E}">
        <p14:creationId xmlns:p14="http://schemas.microsoft.com/office/powerpoint/2010/main" val="932491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B6EE9-8E78-33DC-561F-E40659A49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FCE8DF-0FA1-BA8C-6356-2D0FEA556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C01115-E752-D802-A56C-E580677FFB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Simulación de uso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5678CC-6E3A-5B07-C69A-985CC3D4DD5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96CED92-78D1-4587-A8C3-902B6CBBD52C}" type="slidenum">
              <a:rPr lang="es-ES" smtClean="0"/>
              <a:pPr/>
              <a:t>18</a:t>
            </a:fld>
            <a:r>
              <a:rPr lang="es-ES" dirty="0"/>
              <a:t>/48</a:t>
            </a:r>
          </a:p>
        </p:txBody>
      </p:sp>
      <p:pic>
        <p:nvPicPr>
          <p:cNvPr id="8" name="Marcador de contenido 7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FF9A6DB0-6DC5-CF3E-E8BD-B9300DD5AEA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176" y="1252538"/>
            <a:ext cx="7000723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531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8CDF0-B459-910C-6830-5F5DD7042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7ED86-60C8-1B57-7C52-2730AB5B2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B7B494-34D9-9ED0-6ADF-9241AB18B5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Simulación de uso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5A3D399-CF75-B317-6231-33AD8E31439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96CED92-78D1-4587-A8C3-902B6CBBD52C}" type="slidenum">
              <a:rPr lang="es-ES" smtClean="0"/>
              <a:pPr/>
              <a:t>19</a:t>
            </a:fld>
            <a:r>
              <a:rPr lang="es-ES" dirty="0"/>
              <a:t>/48</a:t>
            </a:r>
          </a:p>
        </p:txBody>
      </p:sp>
      <p:pic>
        <p:nvPicPr>
          <p:cNvPr id="5" name="Imagen 4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43AFFF5C-160B-A402-A8D5-E94E972A5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638" y="1252536"/>
            <a:ext cx="7000722" cy="4354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741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AD18A18CEACA34DAF1757D470B87FDC" ma:contentTypeVersion="7" ma:contentTypeDescription="Crear nuevo documento." ma:contentTypeScope="" ma:versionID="b9ee8aa907c81f4df86bd336d8377212">
  <xsd:schema xmlns:xsd="http://www.w3.org/2001/XMLSchema" xmlns:xs="http://www.w3.org/2001/XMLSchema" xmlns:p="http://schemas.microsoft.com/office/2006/metadata/properties" xmlns:ns3="51264c1c-e48b-47e1-92c6-9d66e656170c" xmlns:ns4="1e5d6cfb-5a2d-44ea-bbd2-6d69105ecb8e" targetNamespace="http://schemas.microsoft.com/office/2006/metadata/properties" ma:root="true" ma:fieldsID="acafec61d7ebb654a06ef6ff0a97dde4" ns3:_="" ns4:_="">
    <xsd:import namespace="51264c1c-e48b-47e1-92c6-9d66e656170c"/>
    <xsd:import namespace="1e5d6cfb-5a2d-44ea-bbd2-6d69105ecb8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264c1c-e48b-47e1-92c6-9d66e65617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5d6cfb-5a2d-44ea-bbd2-6d69105ecb8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7600C1-4010-4F1E-86E8-F74E54D48A8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3B28714-415D-4D1E-A77F-A144BF0AD948}">
  <ds:schemaRefs>
    <ds:schemaRef ds:uri="http://purl.org/dc/terms/"/>
    <ds:schemaRef ds:uri="http://www.w3.org/XML/1998/namespace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1e5d6cfb-5a2d-44ea-bbd2-6d69105ecb8e"/>
    <ds:schemaRef ds:uri="51264c1c-e48b-47e1-92c6-9d66e656170c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9C8447D8-7228-4A80-95EB-E78FCA104D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264c1c-e48b-47e1-92c6-9d66e656170c"/>
    <ds:schemaRef ds:uri="1e5d6cfb-5a2d-44ea-bbd2-6d69105ecb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1634</TotalTime>
  <Words>276</Words>
  <Application>Microsoft Office PowerPoint</Application>
  <PresentationFormat>Panorámica</PresentationFormat>
  <Paragraphs>86</Paragraphs>
  <Slides>20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Rockwell</vt:lpstr>
      <vt:lpstr>Office 2013 - Tema de 2022</vt:lpstr>
      <vt:lpstr>Detección de actividades en tiempo real con sensores multimodales en una Smart Home</vt:lpstr>
      <vt:lpstr>1. 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2. Resultados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Detección de actividades en tiempo real con sensores multimodales en una Smart Home</dc:title>
  <dc:creator>Marcos Lupion Lorente</dc:creator>
  <cp:lastModifiedBy>ESTHER IBÁÑEZ MINGORANCE</cp:lastModifiedBy>
  <cp:revision>33</cp:revision>
  <dcterms:created xsi:type="dcterms:W3CDTF">2020-07-02T15:22:55Z</dcterms:created>
  <dcterms:modified xsi:type="dcterms:W3CDTF">2026-04-20T17:27:00Z</dcterms:modified>
</cp:coreProperties>
</file>